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7B25D5-5DE6-42BA-B3AF-1C54834AD7F4}">
          <p14:sldIdLst>
            <p14:sldId id="256"/>
            <p14:sldId id="257"/>
          </p14:sldIdLst>
        </p14:section>
        <p14:section name="Untitled Section" id="{E43E963D-D235-4439-B6C8-1F0D571B8151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349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43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63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296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48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92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320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52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683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913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59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C3F59C5-73C9-45EA-B04D-EE0C4E876AB4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A9C466A-5BA4-4BD2-ABEA-B5986A581E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96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CAA30-9C21-36DD-E44F-0D17FE581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06766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E-Commerce Sales Analysis</a:t>
            </a:r>
            <a:br>
              <a:rPr lang="en-US" dirty="0"/>
            </a:br>
            <a:r>
              <a:rPr lang="en-US" dirty="0"/>
              <a:t>Driving Revenue Growth Through Data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696BC-194F-BCDA-13B4-6BF0EBF20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Suzain Khan</a:t>
            </a:r>
            <a:br>
              <a:rPr lang="en-US" dirty="0"/>
            </a:br>
            <a:r>
              <a:rPr lang="en-US" dirty="0"/>
              <a:t>Internship Final Presentation</a:t>
            </a:r>
            <a:br>
              <a:rPr lang="en-US" dirty="0"/>
            </a:br>
            <a:r>
              <a:rPr lang="en-US" dirty="0"/>
              <a:t>March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551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7DCE-91DE-0A8C-E9C1-D5F8E4D64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Objective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C2D23-EAE0-638B-B3B6-211D94D5C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Objective</a:t>
            </a:r>
          </a:p>
          <a:p>
            <a:r>
              <a:rPr lang="en-US" dirty="0"/>
              <a:t>Analyze historical sales performance</a:t>
            </a:r>
          </a:p>
          <a:p>
            <a:r>
              <a:rPr lang="en-US" dirty="0"/>
              <a:t>Identify key revenue drivers</a:t>
            </a:r>
          </a:p>
          <a:p>
            <a:r>
              <a:rPr lang="en-US" dirty="0"/>
              <a:t>Understand customer value segmentation</a:t>
            </a:r>
          </a:p>
          <a:p>
            <a:r>
              <a:rPr lang="en-US" dirty="0"/>
              <a:t>Forecast future sales trends</a:t>
            </a:r>
          </a:p>
          <a:p>
            <a:r>
              <a:rPr lang="en-US" dirty="0"/>
              <a:t>Provide strategic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658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5BFFC-D668-1FE3-502F-54E00F5C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077" y="145178"/>
            <a:ext cx="7256207" cy="1325563"/>
          </a:xfrm>
        </p:spPr>
        <p:txBody>
          <a:bodyPr/>
          <a:lstStyle/>
          <a:p>
            <a:r>
              <a:rPr lang="en-IN" b="1" dirty="0"/>
              <a:t>Overall Sales Performance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84DB9A-3392-14F1-C550-D27A57CC1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728" y="1625701"/>
            <a:ext cx="9249006" cy="48439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D61930-25F7-02E4-A854-542486729D23}"/>
              </a:ext>
            </a:extLst>
          </p:cNvPr>
          <p:cNvSpPr txBox="1"/>
          <p:nvPr/>
        </p:nvSpPr>
        <p:spPr>
          <a:xfrm>
            <a:off x="0" y="2286001"/>
            <a:ext cx="26153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year-end peaks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Early-year dip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Mid-year spike (July)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show seasonal dependency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AE3E63-2885-1B0B-62D2-98579F5CDA05}"/>
              </a:ext>
            </a:extLst>
          </p:cNvPr>
          <p:cNvSpPr txBox="1"/>
          <p:nvPr/>
        </p:nvSpPr>
        <p:spPr>
          <a:xfrm>
            <a:off x="1" y="4572000"/>
            <a:ext cx="26940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Message:</a:t>
            </a:r>
            <a:br>
              <a:rPr lang="en-US" dirty="0"/>
            </a:br>
            <a:r>
              <a:rPr lang="en-US" dirty="0"/>
              <a:t>Sales are highly seasonal and sensitive to market conditions.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8E5A39-3523-4C13-32FB-7E2BB820D5E3}"/>
              </a:ext>
            </a:extLst>
          </p:cNvPr>
          <p:cNvSpPr txBox="1"/>
          <p:nvPr/>
        </p:nvSpPr>
        <p:spPr>
          <a:xfrm>
            <a:off x="2728451" y="6528156"/>
            <a:ext cx="6479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Sales are highly seasonal and sensitive to external market conditions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86333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0361-0FED-C6FF-CBAD-D5B3F006A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624" y="88490"/>
            <a:ext cx="8583563" cy="1565786"/>
          </a:xfrm>
        </p:spPr>
        <p:txBody>
          <a:bodyPr/>
          <a:lstStyle/>
          <a:p>
            <a:r>
              <a:rPr lang="en-IN" b="1" dirty="0"/>
              <a:t>Product Performance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702F73-9CC0-40E1-98F1-62A53E4BD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228" y="1789472"/>
            <a:ext cx="8847301" cy="46604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87DFFC-7650-47C5-DABD-51D330AFA74A}"/>
              </a:ext>
            </a:extLst>
          </p:cNvPr>
          <p:cNvSpPr txBox="1"/>
          <p:nvPr/>
        </p:nvSpPr>
        <p:spPr>
          <a:xfrm>
            <a:off x="0" y="2274838"/>
            <a:ext cx="28788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Departments </a:t>
            </a:r>
            <a:r>
              <a:rPr lang="en-US" b="1" dirty="0"/>
              <a:t>92, 95, 38, 72, 90</a:t>
            </a:r>
            <a:r>
              <a:rPr lang="en-US" dirty="0"/>
              <a:t> dominate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Department 48 shows consistent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concentrated in few categories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B3B401-B1B2-6BDD-62B3-EC789C459F8E}"/>
              </a:ext>
            </a:extLst>
          </p:cNvPr>
          <p:cNvSpPr txBox="1"/>
          <p:nvPr/>
        </p:nvSpPr>
        <p:spPr>
          <a:xfrm>
            <a:off x="0" y="4632323"/>
            <a:ext cx="27408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Message:</a:t>
            </a:r>
            <a:br>
              <a:rPr lang="en-US" dirty="0"/>
            </a:br>
            <a:r>
              <a:rPr lang="en-US" dirty="0"/>
              <a:t>Invest in resilient and high-performing categories.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20635C-559D-9B83-725A-057DE425E94D}"/>
              </a:ext>
            </a:extLst>
          </p:cNvPr>
          <p:cNvSpPr txBox="1"/>
          <p:nvPr/>
        </p:nvSpPr>
        <p:spPr>
          <a:xfrm>
            <a:off x="2094271" y="6488668"/>
            <a:ext cx="884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Revenue growth depends on strengthening high-performing and resilient categories.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21421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243E-CF19-02CF-343E-D2651ED3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478" y="119118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en-IN" dirty="0"/>
              <a:t>Geographic &amp; Store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589751-5F8F-B0E3-4492-E78BA6E010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697" y="1435758"/>
            <a:ext cx="9301316" cy="50928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B75123-6728-1323-50E8-B41CA682A1F7}"/>
              </a:ext>
            </a:extLst>
          </p:cNvPr>
          <p:cNvSpPr txBox="1"/>
          <p:nvPr/>
        </p:nvSpPr>
        <p:spPr>
          <a:xfrm>
            <a:off x="0" y="1907458"/>
            <a:ext cx="27726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A stores generate majority of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C stores significantly underperform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format strongly impacts profitability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F67936-C8F9-9CFF-75E5-A3AC8C2083AE}"/>
              </a:ext>
            </a:extLst>
          </p:cNvPr>
          <p:cNvSpPr txBox="1"/>
          <p:nvPr/>
        </p:nvSpPr>
        <p:spPr>
          <a:xfrm>
            <a:off x="0" y="4492781"/>
            <a:ext cx="27038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Message:</a:t>
            </a:r>
            <a:br>
              <a:rPr lang="en-US" dirty="0"/>
            </a:br>
            <a:r>
              <a:rPr lang="en-US" dirty="0"/>
              <a:t>Revenue performance is highly dependent on store format, with Type A stores significantly outperforming other formats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17387C-A3F2-FA37-04DE-38C93BF41FC1}"/>
              </a:ext>
            </a:extLst>
          </p:cNvPr>
          <p:cNvSpPr txBox="1"/>
          <p:nvPr/>
        </p:nvSpPr>
        <p:spPr>
          <a:xfrm>
            <a:off x="2772697" y="6379383"/>
            <a:ext cx="857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Store format is a critical driver of overall revenue performance.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1676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D2CA2-F611-A08F-09A3-6F722EEEF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3652" y="119117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en-IN" dirty="0"/>
              <a:t>Customer Segmentation (RFM)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21AF93-14E5-8054-C2B2-60CDEE9A02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162" y="1386422"/>
            <a:ext cx="8957186" cy="49596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547ECA-7ACA-14DD-A47A-0AAFF1A6EC01}"/>
              </a:ext>
            </a:extLst>
          </p:cNvPr>
          <p:cNvSpPr txBox="1"/>
          <p:nvPr/>
        </p:nvSpPr>
        <p:spPr>
          <a:xfrm>
            <a:off x="0" y="1907458"/>
            <a:ext cx="3244646" cy="2939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High-Value Customers generate highest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Monetary value is primary differentiator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Significant gap between top and bottom segments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Upsell opportunity in mid-tier segments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BB02D-E8D4-29B5-AC72-4D744E60E68F}"/>
              </a:ext>
            </a:extLst>
          </p:cNvPr>
          <p:cNvSpPr txBox="1"/>
          <p:nvPr/>
        </p:nvSpPr>
        <p:spPr>
          <a:xfrm>
            <a:off x="0" y="4670323"/>
            <a:ext cx="3244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Message:</a:t>
            </a:r>
            <a:r>
              <a:rPr lang="en-US" dirty="0"/>
              <a:t> </a:t>
            </a:r>
          </a:p>
          <a:p>
            <a:r>
              <a:rPr lang="en-US" dirty="0"/>
              <a:t>Customer value is strongly differentiated by monetary contribution, with high-value segments generating disproportionate revenue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31605-49EA-27A8-BA8F-3C94B121F167}"/>
              </a:ext>
            </a:extLst>
          </p:cNvPr>
          <p:cNvSpPr txBox="1"/>
          <p:nvPr/>
        </p:nvSpPr>
        <p:spPr>
          <a:xfrm>
            <a:off x="2423258" y="6424649"/>
            <a:ext cx="780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Monetary contribution is the primary differentiator of customer value</a:t>
            </a:r>
            <a:r>
              <a:rPr lang="en-US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45259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EB1B-BFC1-4DD2-6CAB-4CEBF2A0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943" y="359063"/>
            <a:ext cx="8101780" cy="1351749"/>
          </a:xfrm>
        </p:spPr>
        <p:txBody>
          <a:bodyPr>
            <a:normAutofit fontScale="90000"/>
          </a:bodyPr>
          <a:lstStyle/>
          <a:p>
            <a:r>
              <a:rPr lang="en-IN" dirty="0"/>
              <a:t>Cross-Selling &amp; Customer Behaviour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0DF484-9059-84CC-E0CF-0D4BD2A5AF63}"/>
              </a:ext>
            </a:extLst>
          </p:cNvPr>
          <p:cNvSpPr txBox="1"/>
          <p:nvPr/>
        </p:nvSpPr>
        <p:spPr>
          <a:xfrm>
            <a:off x="68826" y="2551837"/>
            <a:ext cx="55847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correlation between Dept 24 &amp; 33 (0.97)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correlation between Dept 90 &amp; 92 (0.97)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Certain departments consistently purchased together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D5F4C-FF9D-42ED-2803-E3A7D4E5CBD5}"/>
              </a:ext>
            </a:extLst>
          </p:cNvPr>
          <p:cNvSpPr txBox="1"/>
          <p:nvPr/>
        </p:nvSpPr>
        <p:spPr>
          <a:xfrm>
            <a:off x="1474838" y="6403213"/>
            <a:ext cx="11385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Strategic Implication: Introduce targeted bundling and cross-promotions to increase basket size.</a:t>
            </a:r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3A5AB7-397B-9E6E-70AC-395339737600}"/>
              </a:ext>
            </a:extLst>
          </p:cNvPr>
          <p:cNvSpPr txBox="1"/>
          <p:nvPr/>
        </p:nvSpPr>
        <p:spPr>
          <a:xfrm>
            <a:off x="0" y="4130005"/>
            <a:ext cx="5653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Message:</a:t>
            </a:r>
            <a:r>
              <a:rPr lang="en-US" dirty="0"/>
              <a:t> </a:t>
            </a:r>
          </a:p>
          <a:p>
            <a:r>
              <a:rPr lang="en-US" dirty="0"/>
              <a:t>Customer purchasing patterns reveal strong bundling opportunities that can increase average transaction value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58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0546-2923-9C38-68BC-446489CDF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78111"/>
            <a:ext cx="7729728" cy="1188720"/>
          </a:xfrm>
        </p:spPr>
        <p:txBody>
          <a:bodyPr/>
          <a:lstStyle/>
          <a:p>
            <a:r>
              <a:rPr lang="en-IN" dirty="0"/>
              <a:t>Forecasting Insights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253E6F-E7D9-F760-8857-D610349D7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213" y="1453753"/>
            <a:ext cx="9448800" cy="47700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68C330-2B2C-DEB1-AC1E-713D2FFA44D4}"/>
              </a:ext>
            </a:extLst>
          </p:cNvPr>
          <p:cNvSpPr txBox="1"/>
          <p:nvPr/>
        </p:nvSpPr>
        <p:spPr>
          <a:xfrm>
            <a:off x="-1" y="1779541"/>
            <a:ext cx="26252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seasonal peaks expected in </a:t>
            </a:r>
            <a:r>
              <a:rPr lang="en-US" b="1" dirty="0"/>
              <a:t>Nov–Dec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Consistent dips projected in </a:t>
            </a:r>
            <a:r>
              <a:rPr lang="en-US" b="1" dirty="0"/>
              <a:t>Jan–Feb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trend shows </a:t>
            </a:r>
            <a:r>
              <a:rPr lang="en-US" b="1" dirty="0"/>
              <a:t>stable to slightly declining growth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Forecast accuracy (MAPE): </a:t>
            </a:r>
            <a:r>
              <a:rPr lang="en-US" b="1" dirty="0"/>
              <a:t>26.42%</a:t>
            </a:r>
            <a:endParaRPr lang="en-US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BAF64E-1E70-16BA-C4B6-5F6BBC934F15}"/>
              </a:ext>
            </a:extLst>
          </p:cNvPr>
          <p:cNvSpPr txBox="1"/>
          <p:nvPr/>
        </p:nvSpPr>
        <p:spPr>
          <a:xfrm>
            <a:off x="658763" y="6310741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Strategic Implication: Revenue growth must be driven by proactive business strategies, not natural market expansion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ACDE-6163-7F0B-E64E-517E376732AE}"/>
              </a:ext>
            </a:extLst>
          </p:cNvPr>
          <p:cNvSpPr txBox="1"/>
          <p:nvPr/>
        </p:nvSpPr>
        <p:spPr>
          <a:xfrm>
            <a:off x="1" y="4719484"/>
            <a:ext cx="26252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Message:</a:t>
            </a:r>
          </a:p>
          <a:p>
            <a:r>
              <a:rPr lang="en-US" dirty="0"/>
              <a:t>Future growth will not accelerate naturally — strategic intervention is required.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106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69F7F-7AE0-1C6D-C720-DA5A27C1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17441"/>
            <a:ext cx="10038735" cy="1188720"/>
          </a:xfrm>
        </p:spPr>
        <p:txBody>
          <a:bodyPr>
            <a:normAutofit fontScale="90000"/>
          </a:bodyPr>
          <a:lstStyle/>
          <a:p>
            <a:r>
              <a:rPr lang="en-IN" dirty="0"/>
              <a:t>Strategic Recommendations &amp; Expected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C3FC5-9ACE-B488-7BBD-EAFC3E56A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406162"/>
            <a:ext cx="6174658" cy="54518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Strategic Priorities</a:t>
            </a:r>
          </a:p>
          <a:p>
            <a:pPr marL="0" indent="0">
              <a:buNone/>
            </a:pPr>
            <a:r>
              <a:rPr lang="en-US" b="1" dirty="0"/>
              <a:t>Key Actions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Launch a </a:t>
            </a:r>
            <a:r>
              <a:rPr lang="en-US" b="1" dirty="0"/>
              <a:t>Tiered Loyalty Program</a:t>
            </a:r>
            <a:r>
              <a:rPr lang="en-US" dirty="0"/>
              <a:t> for high-value customers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Increase investment in </a:t>
            </a:r>
            <a:r>
              <a:rPr lang="en-US" b="1" dirty="0"/>
              <a:t>top-performing departments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Implement </a:t>
            </a:r>
            <a:r>
              <a:rPr lang="en-US" b="1" dirty="0"/>
              <a:t>seasonal pricing optimization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Introduce </a:t>
            </a:r>
            <a:r>
              <a:rPr lang="en-US" b="1" dirty="0"/>
              <a:t>bundling &amp; cross-selling strategies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Prioritize expansion of </a:t>
            </a:r>
            <a:r>
              <a:rPr lang="en-US" b="1" dirty="0"/>
              <a:t>high-performing store formats</a:t>
            </a:r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3B262-1133-A85F-FD07-2625611B3EEE}"/>
              </a:ext>
            </a:extLst>
          </p:cNvPr>
          <p:cNvSpPr txBox="1"/>
          <p:nvPr/>
        </p:nvSpPr>
        <p:spPr>
          <a:xfrm>
            <a:off x="8003459" y="1808985"/>
            <a:ext cx="41885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Expected Business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Customer Lifetime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Profit Margins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Seasonal Revenue 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Inventory &amp; Demand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Stronger Data-Driven Decision Culture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386C4-815D-6C78-9ACF-5ABA0C2CC146}"/>
              </a:ext>
            </a:extLst>
          </p:cNvPr>
          <p:cNvSpPr txBox="1"/>
          <p:nvPr/>
        </p:nvSpPr>
        <p:spPr>
          <a:xfrm>
            <a:off x="1553496" y="6369549"/>
            <a:ext cx="10844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Sustainable revenue growth will come from strategic optimization, not organic market expansion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3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62</TotalTime>
  <Words>446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 Light</vt:lpstr>
      <vt:lpstr>Metropolitan</vt:lpstr>
      <vt:lpstr>E-Commerce Sales Analysis Driving Revenue Growth Through Data</vt:lpstr>
      <vt:lpstr>Business Objective &amp; Scope</vt:lpstr>
      <vt:lpstr>Overall Sales Performance </vt:lpstr>
      <vt:lpstr>Product Performance Analysis</vt:lpstr>
      <vt:lpstr>Geographic &amp; Store Performance</vt:lpstr>
      <vt:lpstr>Customer Segmentation (RFM)</vt:lpstr>
      <vt:lpstr>Cross-Selling &amp; Customer Behaviour</vt:lpstr>
      <vt:lpstr>Forecasting Insights</vt:lpstr>
      <vt:lpstr>Strategic Recommendations &amp; Expected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Suzain Khan</dc:creator>
  <cp:lastModifiedBy>Suzain Khan</cp:lastModifiedBy>
  <cp:revision>1</cp:revision>
  <dcterms:created xsi:type="dcterms:W3CDTF">2026-03-02T00:09:23Z</dcterms:created>
  <dcterms:modified xsi:type="dcterms:W3CDTF">2026-03-02T01:11:52Z</dcterms:modified>
</cp:coreProperties>
</file>